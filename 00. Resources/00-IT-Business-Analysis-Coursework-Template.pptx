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notesMasterIdLst>
    <p:notesMasterId r:id="rId14"/>
  </p:notesMasterIdLst>
  <p:handoutMasterIdLst>
    <p:handoutMasterId r:id="rId15"/>
  </p:handoutMasterIdLst>
  <p:sldIdLst>
    <p:sldId id="503" r:id="rId5"/>
    <p:sldId id="504" r:id="rId6"/>
    <p:sldId id="505" r:id="rId7"/>
    <p:sldId id="506" r:id="rId8"/>
    <p:sldId id="507" r:id="rId9"/>
    <p:sldId id="402" r:id="rId10"/>
    <p:sldId id="508" r:id="rId11"/>
    <p:sldId id="509" r:id="rId12"/>
    <p:sldId id="51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0C7653D-1924-4F56-9E27-AA2B21F1DA92}">
          <p14:sldIdLst>
            <p14:sldId id="503"/>
            <p14:sldId id="504"/>
            <p14:sldId id="505"/>
            <p14:sldId id="506"/>
            <p14:sldId id="507"/>
            <p14:sldId id="402"/>
            <p14:sldId id="508"/>
            <p14:sldId id="509"/>
            <p14:sldId id="5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A311F17-C423-66C5-CAA5-62C9F116BCA7}" name="Tsvetina Kireva" initials="TK" userId="S::tkire@softserveinc.com::9f2df5cb-7300-4605-8c81-b907929b06f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D277A6-A9EB-42BC-922C-027BD701644B}" v="1" dt="2024-04-15T08:17:05.909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 snapToGrid="0">
      <p:cViewPr varScale="1">
        <p:scale>
          <a:sx n="128" d="100"/>
          <a:sy n="128" d="100"/>
        </p:scale>
        <p:origin x="480" y="176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80" y="48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vetina.kireva@gmail.com" userId="S::urn:spo:guest#tsvetina.kireva@gmail.com::" providerId="AD" clId="Web-{C32F1084-902C-36B8-93B3-B732A7AE9150}"/>
    <pc:docChg chg="modSld">
      <pc:chgData name="tsvetina.kireva@gmail.com" userId="S::urn:spo:guest#tsvetina.kireva@gmail.com::" providerId="AD" clId="Web-{C32F1084-902C-36B8-93B3-B732A7AE9150}" dt="2024-03-25T10:09:19.680" v="7"/>
      <pc:docMkLst>
        <pc:docMk/>
      </pc:docMkLst>
      <pc:sldChg chg="modSp">
        <pc:chgData name="tsvetina.kireva@gmail.com" userId="S::urn:spo:guest#tsvetina.kireva@gmail.com::" providerId="AD" clId="Web-{C32F1084-902C-36B8-93B3-B732A7AE9150}" dt="2024-03-25T10:09:19.680" v="7"/>
        <pc:sldMkLst>
          <pc:docMk/>
          <pc:sldMk cId="3943276581" sldId="410"/>
        </pc:sldMkLst>
        <pc:picChg chg="mod">
          <ac:chgData name="tsvetina.kireva@gmail.com" userId="S::urn:spo:guest#tsvetina.kireva@gmail.com::" providerId="AD" clId="Web-{C32F1084-902C-36B8-93B3-B732A7AE9150}" dt="2024-03-25T10:09:19.680" v="7"/>
          <ac:picMkLst>
            <pc:docMk/>
            <pc:sldMk cId="3943276581" sldId="410"/>
            <ac:picMk id="21" creationId="{D7D98F9D-A7F2-3BAB-FCF0-BC311A188324}"/>
          </ac:picMkLst>
        </pc:picChg>
      </pc:sldChg>
    </pc:docChg>
  </pc:docChgLst>
  <pc:docChgLst>
    <pc:chgData name="Daniela Zapryanova" userId="S::daniela.zapryanova@softuni.bg::30500f4c-0a0a-4832-ad5e-d86868edd79a" providerId="AD" clId="Web-{86D277A6-A9EB-42BC-922C-027BD701644B}"/>
    <pc:docChg chg="addSection">
      <pc:chgData name="Daniela Zapryanova" userId="S::daniela.zapryanova@softuni.bg::30500f4c-0a0a-4832-ad5e-d86868edd79a" providerId="AD" clId="Web-{86D277A6-A9EB-42BC-922C-027BD701644B}" dt="2024-04-15T08:17:05.909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12.06.24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/>
              <a:t>© SoftUni – </a:t>
            </a:r>
            <a:r>
              <a:rPr lang="en-US" sz="1100" u="sng">
                <a:hlinkClick r:id="rId2"/>
              </a:rPr>
              <a:t>https://softuni.org</a:t>
            </a:r>
            <a:r>
              <a:rPr lang="en-US" sz="110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6/12/24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/>
              <a:t>© SoftUni – </a:t>
            </a:r>
            <a:r>
              <a:rPr lang="en-US" u="sng">
                <a:hlinkClick r:id="rId2"/>
              </a:rPr>
              <a:t>https://softuni.org</a:t>
            </a:r>
            <a:r>
              <a:rPr lang="en-US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3858-86C6-492C-B101-7EE82988ECC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F35A7-244F-4EA8-8534-E721F17295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245338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03858-86C6-492C-B101-7EE82988ECC1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7F35A7-244F-4EA8-8534-E721F172950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989531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20.png"/><Relationship Id="rId4" Type="http://schemas.openxmlformats.org/officeDocument/2006/relationships/hyperlink" Target="https://softuni.org/" TargetMode="External"/><Relationship Id="rId9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Click to Edit Section Title</a:t>
            </a:r>
            <a:endParaRPr lang="en-US" altLang="ko-KR" noProof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</a:t>
            </a:r>
            <a:r>
              <a:rPr lang="en-US" sz="1600" noProof="0" dirty="0" err="1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SoftUni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</a:t>
            </a:r>
            <a:r>
              <a:rPr lang="en-US" sz="1600" u="sng" noProof="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981" y="190267"/>
            <a:ext cx="2013336" cy="690975"/>
          </a:xfrm>
          <a:prstGeom prst="rect">
            <a:avLst/>
          </a:prstGeom>
        </p:spPr>
      </p:pic>
      <p:grpSp>
        <p:nvGrpSpPr>
          <p:cNvPr id="3" name="Group 4">
            <a:extLst>
              <a:ext uri="{FF2B5EF4-FFF2-40B4-BE49-F238E27FC236}">
                <a16:creationId xmlns:a16="http://schemas.microsoft.com/office/drawing/2014/main" id="{3E5A09C0-E50B-5002-A109-2720E7EECF43}"/>
              </a:ext>
            </a:extLst>
          </p:cNvPr>
          <p:cNvGrpSpPr/>
          <p:nvPr/>
        </p:nvGrpSpPr>
        <p:grpSpPr>
          <a:xfrm>
            <a:off x="3957282" y="1750826"/>
            <a:ext cx="7787441" cy="3498930"/>
            <a:chOff x="3749351" y="1549902"/>
            <a:chExt cx="7787441" cy="3498930"/>
          </a:xfrm>
        </p:grpSpPr>
        <p:pic>
          <p:nvPicPr>
            <p:cNvPr id="4" name="Picture 6" descr="A picture containing text, sign, vector graphics&#10;&#10;Description automatically generated">
              <a:extLst>
                <a:ext uri="{FF2B5EF4-FFF2-40B4-BE49-F238E27FC236}">
                  <a16:creationId xmlns:a16="http://schemas.microsoft.com/office/drawing/2014/main" id="{7FF173C1-4FAD-851F-9448-5714A3BB6B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3020" y="1549902"/>
              <a:ext cx="1343039" cy="1343039"/>
            </a:xfrm>
            <a:prstGeom prst="rect">
              <a:avLst/>
            </a:prstGeom>
          </p:spPr>
        </p:pic>
        <p:pic>
          <p:nvPicPr>
            <p:cNvPr id="5" name="Picture 8" descr="Logo&#10;&#10;Description automatically generated">
              <a:extLst>
                <a:ext uri="{FF2B5EF4-FFF2-40B4-BE49-F238E27FC236}">
                  <a16:creationId xmlns:a16="http://schemas.microsoft.com/office/drawing/2014/main" id="{C5238E42-A207-406B-E105-2EA849828D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94661" y="3848395"/>
              <a:ext cx="1147961" cy="1147961"/>
            </a:xfrm>
            <a:prstGeom prst="rect">
              <a:avLst/>
            </a:prstGeom>
          </p:spPr>
        </p:pic>
        <p:pic>
          <p:nvPicPr>
            <p:cNvPr id="6" name="Picture 10" descr="Logo&#10;&#10;Description automatically generated">
              <a:extLst>
                <a:ext uri="{FF2B5EF4-FFF2-40B4-BE49-F238E27FC236}">
                  <a16:creationId xmlns:a16="http://schemas.microsoft.com/office/drawing/2014/main" id="{E4353351-4B04-6355-4605-47AE7472F2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59277" y="3871255"/>
              <a:ext cx="1147961" cy="1147961"/>
            </a:xfrm>
            <a:prstGeom prst="rect">
              <a:avLst/>
            </a:prstGeom>
          </p:spPr>
        </p:pic>
        <p:pic>
          <p:nvPicPr>
            <p:cNvPr id="7" name="Picture 12" descr="Logo&#10;&#10;Description automatically generated">
              <a:extLst>
                <a:ext uri="{FF2B5EF4-FFF2-40B4-BE49-F238E27FC236}">
                  <a16:creationId xmlns:a16="http://schemas.microsoft.com/office/drawing/2014/main" id="{0C972E12-8EF7-7CDE-DF95-4E65BC99A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00306" y="3874225"/>
              <a:ext cx="1147961" cy="1147961"/>
            </a:xfrm>
            <a:prstGeom prst="rect">
              <a:avLst/>
            </a:prstGeom>
          </p:spPr>
        </p:pic>
        <p:pic>
          <p:nvPicPr>
            <p:cNvPr id="8" name="Graphic 17">
              <a:extLst>
                <a:ext uri="{FF2B5EF4-FFF2-40B4-BE49-F238E27FC236}">
                  <a16:creationId xmlns:a16="http://schemas.microsoft.com/office/drawing/2014/main" id="{91C70D5A-79C1-1027-0103-1F9179A4E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738229" y="3900407"/>
              <a:ext cx="888756" cy="1043936"/>
            </a:xfrm>
            <a:prstGeom prst="rect">
              <a:avLst/>
            </a:prstGeom>
          </p:spPr>
        </p:pic>
        <p:pic>
          <p:nvPicPr>
            <p:cNvPr id="9" name="Graphic 19">
              <a:extLst>
                <a:ext uri="{FF2B5EF4-FFF2-40B4-BE49-F238E27FC236}">
                  <a16:creationId xmlns:a16="http://schemas.microsoft.com/office/drawing/2014/main" id="{FC18DD71-0A94-FC1B-C3B7-93312E03F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3749351" y="3928121"/>
              <a:ext cx="837913" cy="1040168"/>
            </a:xfrm>
            <a:prstGeom prst="rect">
              <a:avLst/>
            </a:prstGeom>
          </p:spPr>
        </p:pic>
        <p:pic>
          <p:nvPicPr>
            <p:cNvPr id="10" name="Picture 21" descr="Logo&#10;&#10;Description automatically generated">
              <a:extLst>
                <a:ext uri="{FF2B5EF4-FFF2-40B4-BE49-F238E27FC236}">
                  <a16:creationId xmlns:a16="http://schemas.microsoft.com/office/drawing/2014/main" id="{9A7504BC-FCD7-5609-DC0D-048C46CA7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0279380" y="3876626"/>
              <a:ext cx="1257412" cy="1172206"/>
            </a:xfrm>
            <a:prstGeom prst="rect">
              <a:avLst/>
            </a:prstGeom>
          </p:spPr>
        </p:pic>
        <p:grpSp>
          <p:nvGrpSpPr>
            <p:cNvPr id="11" name="Group 35">
              <a:extLst>
                <a:ext uri="{FF2B5EF4-FFF2-40B4-BE49-F238E27FC236}">
                  <a16:creationId xmlns:a16="http://schemas.microsoft.com/office/drawing/2014/main" id="{92948CC3-84FC-975C-D1FD-B1E85286262D}"/>
                </a:ext>
              </a:extLst>
            </p:cNvPr>
            <p:cNvGrpSpPr/>
            <p:nvPr/>
          </p:nvGrpSpPr>
          <p:grpSpPr>
            <a:xfrm>
              <a:off x="4091553" y="3060524"/>
              <a:ext cx="6825992" cy="559921"/>
              <a:chOff x="1433768" y="2645180"/>
              <a:chExt cx="9324489" cy="783820"/>
            </a:xfrm>
          </p:grpSpPr>
          <p:cxnSp>
            <p:nvCxnSpPr>
              <p:cNvPr id="12" name="Straight Connector 30">
                <a:extLst>
                  <a:ext uri="{FF2B5EF4-FFF2-40B4-BE49-F238E27FC236}">
                    <a16:creationId xmlns:a16="http://schemas.microsoft.com/office/drawing/2014/main" id="{0C5208EE-D193-E036-1BE6-083535035C5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96000" y="2645180"/>
                <a:ext cx="1" cy="469190"/>
              </a:xfrm>
              <a:prstGeom prst="line">
                <a:avLst/>
              </a:prstGeom>
              <a:ln w="41275">
                <a:solidFill>
                  <a:srgbClr val="FFA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" name="Picture 32">
                <a:extLst>
                  <a:ext uri="{FF2B5EF4-FFF2-40B4-BE49-F238E27FC236}">
                    <a16:creationId xmlns:a16="http://schemas.microsoft.com/office/drawing/2014/main" id="{B7C03C1C-B207-DF97-A3F6-1E42125588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33768" y="3114370"/>
                <a:ext cx="9324489" cy="314630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07451" y="4399785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endParaRPr lang="en-US" noProof="1"/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mpany Web Site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>
                <a:hlinkClick r:id="rId3"/>
              </a:rPr>
              <a:t>https://about.softuni.bg</a:t>
            </a:r>
            <a:endParaRPr lang="en-US"/>
          </a:p>
        </p:txBody>
      </p:sp>
      <p:sp>
        <p:nvSpPr>
          <p:cNvPr id="11" name="Company Name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Software University</a:t>
            </a:r>
          </a:p>
        </p:txBody>
      </p:sp>
      <p:sp>
        <p:nvSpPr>
          <p:cNvPr id="10" name="Author Position">
            <a:extLst>
              <a:ext uri="{FF2B5EF4-FFF2-40B4-BE49-F238E27FC236}">
                <a16:creationId xmlns:a16="http://schemas.microsoft.com/office/drawing/2014/main" id="{F585BC4C-0F13-4FD4-8F23-99FD466183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Technical Trainers</a:t>
            </a:r>
          </a:p>
        </p:txBody>
      </p:sp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SoftUni Team</a:t>
            </a:r>
          </a:p>
        </p:txBody>
      </p:sp>
      <p:sp>
        <p:nvSpPr>
          <p:cNvPr id="3" name="Presentation Subtitle">
            <a:extLst>
              <a:ext uri="{FF2B5EF4-FFF2-40B4-BE49-F238E27FC236}">
                <a16:creationId xmlns:a16="http://schemas.microsoft.com/office/drawing/2014/main" id="{A004DC04-DA2A-41C0-8578-4B8D2F08EA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197" y="1220675"/>
            <a:ext cx="11083636" cy="1315728"/>
          </a:xfrm>
        </p:spPr>
        <p:txBody>
          <a:bodyPr>
            <a:normAutofit/>
          </a:bodyPr>
          <a:lstStyle/>
          <a:p>
            <a:r>
              <a:rPr lang="en-US" sz="4000" dirty="0"/>
              <a:t>Coursework Template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291" y="28792"/>
            <a:ext cx="9495900" cy="1426073"/>
          </a:xfrm>
        </p:spPr>
        <p:txBody>
          <a:bodyPr>
            <a:noAutofit/>
          </a:bodyPr>
          <a:lstStyle/>
          <a:p>
            <a:r>
              <a:rPr lang="en-US" sz="4800" dirty="0"/>
              <a:t>IT Business Analysis Fundamentals</a:t>
            </a:r>
          </a:p>
        </p:txBody>
      </p:sp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1D9286-56DA-03CB-123F-C910DC6B68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0B77D33-9AD4-008B-DEE9-BC309AC91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Business Analysis</a:t>
            </a:r>
          </a:p>
        </p:txBody>
      </p:sp>
      <p:sp>
        <p:nvSpPr>
          <p:cNvPr id="5" name="Google Shape;171;p1">
            <a:extLst>
              <a:ext uri="{FF2B5EF4-FFF2-40B4-BE49-F238E27FC236}">
                <a16:creationId xmlns:a16="http://schemas.microsoft.com/office/drawing/2014/main" id="{6E43650F-2678-37A3-311C-7FB85A981697}"/>
              </a:ext>
            </a:extLst>
          </p:cNvPr>
          <p:cNvSpPr txBox="1">
            <a:spLocks/>
          </p:cNvSpPr>
          <p:nvPr/>
        </p:nvSpPr>
        <p:spPr>
          <a:xfrm>
            <a:off x="190401" y="1196124"/>
            <a:ext cx="11804826" cy="5509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36000" rIns="108000" bIns="36000" anchor="t" anchorCtr="0">
            <a:normAutofit/>
          </a:bodyPr>
          <a:lstStyle>
            <a:lvl1pPr marL="36036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Wingdings" panose="05000000000000000000" pitchFamily="2" charset="2"/>
              <a:buNone/>
            </a:pPr>
            <a:r>
              <a:rPr lang="bg-BG" sz="4400" b="1" dirty="0"/>
              <a:t>Практически проект</a:t>
            </a:r>
            <a:endParaRPr lang="ru-RU" sz="4400" dirty="0"/>
          </a:p>
          <a:p>
            <a:pPr marL="0" indent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98"/>
              <a:buFont typeface="Wingdings" panose="05000000000000000000" pitchFamily="2" charset="2"/>
              <a:buNone/>
            </a:pPr>
            <a:endParaRPr lang="ru-RU" sz="4400" dirty="0"/>
          </a:p>
          <a:p>
            <a:pPr marL="0" indent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98"/>
              <a:buFont typeface="Wingdings" panose="05000000000000000000" pitchFamily="2" charset="2"/>
              <a:buNone/>
            </a:pPr>
            <a:endParaRPr lang="ru-RU" dirty="0"/>
          </a:p>
          <a:p>
            <a:pPr marL="0" indent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98"/>
              <a:buFont typeface="Wingdings" panose="05000000000000000000" pitchFamily="2" charset="2"/>
              <a:buNone/>
            </a:pPr>
            <a:endParaRPr lang="ru-RU" dirty="0"/>
          </a:p>
          <a:p>
            <a:pPr marL="0" indent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98"/>
              <a:buFont typeface="Wingdings" panose="05000000000000000000" pitchFamily="2" charset="2"/>
              <a:buNone/>
            </a:pPr>
            <a:endParaRPr lang="ru-RU" dirty="0"/>
          </a:p>
          <a:p>
            <a:pPr marL="0" indent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Wingdings" panose="05000000000000000000" pitchFamily="2" charset="2"/>
              <a:buNone/>
            </a:pPr>
            <a:r>
              <a:rPr lang="ru-RU" sz="3400" dirty="0" err="1"/>
              <a:t>Име</a:t>
            </a:r>
            <a:r>
              <a:rPr lang="ru-RU" sz="3400" dirty="0"/>
              <a:t>:</a:t>
            </a:r>
          </a:p>
          <a:p>
            <a:pPr marL="0" indent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None/>
            </a:pPr>
            <a:r>
              <a:rPr lang="ru-RU" sz="3400" dirty="0" err="1"/>
              <a:t>Потребителско</a:t>
            </a:r>
            <a:r>
              <a:rPr lang="ru-RU" sz="3400" dirty="0"/>
              <a:t> </a:t>
            </a:r>
            <a:r>
              <a:rPr lang="ru-RU" sz="3400" dirty="0" err="1"/>
              <a:t>име</a:t>
            </a:r>
            <a:r>
              <a:rPr lang="ru-RU" sz="3400" dirty="0"/>
              <a:t> в </a:t>
            </a:r>
            <a:r>
              <a:rPr lang="en-US" sz="3400" dirty="0" err="1"/>
              <a:t>SoftUni</a:t>
            </a:r>
            <a:r>
              <a:rPr lang="en-US" sz="3400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6013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1AFAB2-0CBF-EBD4-C494-294DE04DD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08CECAC-0418-8BFD-0D29-9D186A7E1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1. </a:t>
            </a:r>
            <a:r>
              <a:rPr lang="en-US" sz="4000" b="1" i="0" u="none" strike="noStrike" dirty="0">
                <a:effectLst/>
                <a:latin typeface="Calibri" panose="020F0502020204030204" pitchFamily="34" charset="0"/>
              </a:rPr>
              <a:t>5 WHYs Root Cause Analysis (25 points)</a:t>
            </a:r>
            <a:endParaRPr lang="en-US" sz="4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EB5FC5-9610-391B-184E-0F2048637280}"/>
              </a:ext>
            </a:extLst>
          </p:cNvPr>
          <p:cNvSpPr txBox="1"/>
          <p:nvPr/>
        </p:nvSpPr>
        <p:spPr>
          <a:xfrm>
            <a:off x="190406" y="1243425"/>
            <a:ext cx="11631420" cy="5093702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r>
              <a:rPr lang="en-US" sz="2800" dirty="0"/>
              <a:t>Make a </a:t>
            </a:r>
            <a:r>
              <a:rPr lang="en-US" sz="2800" b="1" dirty="0"/>
              <a:t>5 WHYs Root Cause Analysis </a:t>
            </a:r>
            <a:r>
              <a:rPr lang="en-US" sz="2800" dirty="0"/>
              <a:t>on the following problem:</a:t>
            </a:r>
          </a:p>
          <a:p>
            <a:endParaRPr lang="en-US" sz="2800" dirty="0"/>
          </a:p>
          <a:p>
            <a:r>
              <a:rPr lang="en-US" sz="3200" b="1" dirty="0">
                <a:solidFill>
                  <a:schemeClr val="bg1"/>
                </a:solidFill>
              </a:rPr>
              <a:t>"Bulgaria's road network is poor condition in Europe!</a:t>
            </a:r>
            <a:r>
              <a:rPr lang="bg-BG" sz="3200" b="1" dirty="0">
                <a:solidFill>
                  <a:schemeClr val="bg1"/>
                </a:solidFill>
              </a:rPr>
              <a:t>"</a:t>
            </a:r>
          </a:p>
          <a:p>
            <a:endParaRPr lang="bg-BG" sz="3200" b="1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bg-BG" sz="3200" b="1" dirty="0"/>
              <a:t>1.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bg-BG" sz="3200" b="1" dirty="0"/>
              <a:t>2.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bg-BG" sz="3200" b="1" dirty="0"/>
              <a:t>3.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bg-BG" sz="3200" b="1" dirty="0"/>
              <a:t>4.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bg-BG" sz="3200" b="1" dirty="0"/>
              <a:t>5.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375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BEF393-53EE-1CE6-C4D2-3903F7E8C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2150B-1083-19C2-16D2-030B8A7480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0" indent="0" algn="l" rtl="0" fontAlgn="base">
              <a:buNone/>
            </a:pPr>
            <a:r>
              <a:rPr lang="en-US" sz="2400" b="1" i="0" u="none" strike="noStrike" dirty="0">
                <a:solidFill>
                  <a:srgbClr val="F2A40D"/>
                </a:solidFill>
                <a:effectLst/>
                <a:latin typeface="Calibri" panose="020F0502020204030204" pitchFamily="34" charset="0"/>
              </a:rPr>
              <a:t>Case: </a:t>
            </a:r>
            <a:r>
              <a:rPr lang="en-US" sz="24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Company </a:t>
            </a:r>
            <a:r>
              <a:rPr lang="en-US" sz="2400" b="1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"</a:t>
            </a:r>
            <a:r>
              <a:rPr lang="en-US" sz="2400" b="1" i="0" u="none" strike="noStrike" dirty="0" err="1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Bags.bg</a:t>
            </a:r>
            <a:r>
              <a:rPr lang="en-US" sz="2400" b="1" dirty="0">
                <a:solidFill>
                  <a:srgbClr val="234465"/>
                </a:solidFill>
                <a:latin typeface="Calibri" panose="020F0502020204030204" pitchFamily="34" charset="0"/>
              </a:rPr>
              <a:t>"</a:t>
            </a:r>
            <a:r>
              <a:rPr lang="en-US" sz="2400" b="1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 </a:t>
            </a:r>
            <a:r>
              <a:rPr lang="en-US" sz="24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is under requirement elicitation with you for their new retail application. During this process, there were outlined and described following requirements: </a:t>
            </a:r>
            <a:r>
              <a:rPr lang="en-US" sz="2400" b="0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234465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1. We would like the system to be available 24/7 with 99.5% availability</a:t>
            </a:r>
            <a:r>
              <a:rPr lang="en-US" sz="2400" b="0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234465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2. I want the system to provide option for registration of a user</a:t>
            </a:r>
            <a:r>
              <a:rPr lang="en-US" sz="2400" b="0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234465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3.We want to have a mechanism to provide special discounts to the registered users, so that they can visit back and buy more.</a:t>
            </a:r>
            <a:r>
              <a:rPr lang="en-US" sz="2400" b="0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234465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4. We need new retail approach to our end clients because recently our purchases became less then the last year and we have a target to increase them by 5 % this year.</a:t>
            </a:r>
            <a:r>
              <a:rPr lang="en-US" sz="2400" b="0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​</a:t>
            </a:r>
            <a:endParaRPr lang="en-US" sz="2400" b="0" i="0" dirty="0">
              <a:solidFill>
                <a:srgbClr val="234465"/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24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5. There will be a need to train the administrators of the platform for future usage, and to migrate part of the content from our current application.</a:t>
            </a:r>
            <a:r>
              <a:rPr lang="bg-BG" sz="2400" b="0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​</a:t>
            </a:r>
            <a:endParaRPr lang="bg-BG" sz="2400" b="0" i="0" dirty="0">
              <a:solidFill>
                <a:srgbClr val="234465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44731A6-49E6-0375-A1FA-B9983051D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000" dirty="0"/>
              <a:t>2. </a:t>
            </a:r>
            <a:r>
              <a:rPr lang="en-US" sz="3000" dirty="0">
                <a:solidFill>
                  <a:srgbClr val="FFFFFF"/>
                </a:solidFill>
                <a:latin typeface="Calibri" panose="020F0502020204030204" pitchFamily="34" charset="0"/>
              </a:rPr>
              <a:t>Categorize the Requirements – Description (25 points)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323133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E8FF05-C3E8-F186-88A3-88E3F4981F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77FCAD-9C93-7F6C-688E-4E89C102BA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Task: </a:t>
            </a:r>
            <a:r>
              <a:rPr lang="en-US" sz="32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Categorize the requirements described above to: </a:t>
            </a:r>
            <a:r>
              <a:rPr lang="en-US" sz="3200" b="1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Business, Functional, Non-functional, Transition and Stakeholder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234465"/>
                </a:solidFill>
                <a:latin typeface="Calibri" panose="020F0502020204030204" pitchFamily="34" charset="0"/>
              </a:rPr>
              <a:t>1.</a:t>
            </a:r>
          </a:p>
          <a:p>
            <a:pPr marL="0" indent="0">
              <a:buNone/>
            </a:pPr>
            <a:r>
              <a:rPr lang="en-US" sz="3200" b="1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2.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234465"/>
                </a:solidFill>
                <a:latin typeface="Calibri" panose="020F0502020204030204" pitchFamily="34" charset="0"/>
              </a:rPr>
              <a:t>3.</a:t>
            </a:r>
          </a:p>
          <a:p>
            <a:pPr marL="0" indent="0">
              <a:buNone/>
            </a:pPr>
            <a:r>
              <a:rPr lang="en-US" sz="3200" b="1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4.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234465"/>
                </a:solidFill>
                <a:latin typeface="Calibri" panose="020F0502020204030204" pitchFamily="34" charset="0"/>
              </a:rPr>
              <a:t>5.</a:t>
            </a:r>
          </a:p>
          <a:p>
            <a:pPr marL="0" indent="0">
              <a:buNone/>
            </a:pPr>
            <a:r>
              <a:rPr lang="en-US" sz="3200" b="1" i="0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6.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234465"/>
                </a:solidFill>
                <a:latin typeface="Calibri" panose="020F0502020204030204" pitchFamily="34" charset="0"/>
              </a:rPr>
              <a:t>….</a:t>
            </a:r>
            <a:endParaRPr lang="en-US" sz="3200" b="0" i="0" dirty="0">
              <a:solidFill>
                <a:srgbClr val="234465"/>
              </a:solidFill>
              <a:effectLst/>
              <a:latin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A7611D1-6921-CB6C-6873-069875E6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2. </a:t>
            </a:r>
            <a:r>
              <a:rPr lang="en-US" sz="3400" dirty="0">
                <a:solidFill>
                  <a:srgbClr val="FFFFFF"/>
                </a:solidFill>
                <a:latin typeface="Calibri" panose="020F0502020204030204" pitchFamily="34" charset="0"/>
              </a:rPr>
              <a:t>Categorize the Requirements – Execution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421485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78D359D-BFC9-4FB9-8654-A5D0FCAEF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Slide Title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Process – Description (25 points)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A0D82-0969-6173-A388-322907A28C10}"/>
              </a:ext>
            </a:extLst>
          </p:cNvPr>
          <p:cNvSpPr txBox="1"/>
          <p:nvPr/>
        </p:nvSpPr>
        <p:spPr>
          <a:xfrm>
            <a:off x="190406" y="1226499"/>
            <a:ext cx="1074905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Choose a process, draw it and paste your picture on the next slide: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7350C7-E67E-4D9B-3D78-D97B2852346B}"/>
              </a:ext>
            </a:extLst>
          </p:cNvPr>
          <p:cNvSpPr txBox="1"/>
          <p:nvPr/>
        </p:nvSpPr>
        <p:spPr>
          <a:xfrm>
            <a:off x="461869" y="3861138"/>
            <a:ext cx="4414884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rtl="0">
              <a:spcBef>
                <a:spcPts val="1200"/>
              </a:spcBef>
              <a:spcAft>
                <a:spcPts val="0"/>
              </a:spcAft>
            </a:pPr>
            <a:r>
              <a:rPr lang="en-US" sz="2800" b="1" dirty="0"/>
              <a:t>Process 1</a:t>
            </a:r>
            <a:r>
              <a:rPr lang="en-US" sz="2800" dirty="0"/>
              <a:t>: Washing clothes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A4B709-2C0A-9E7A-B79F-2EE950D1A071}"/>
              </a:ext>
            </a:extLst>
          </p:cNvPr>
          <p:cNvSpPr txBox="1"/>
          <p:nvPr/>
        </p:nvSpPr>
        <p:spPr>
          <a:xfrm>
            <a:off x="6096000" y="3861138"/>
            <a:ext cx="4843462" cy="52322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rtl="0">
              <a:spcBef>
                <a:spcPts val="1200"/>
              </a:spcBef>
              <a:spcAft>
                <a:spcPts val="1200"/>
              </a:spcAft>
            </a:pPr>
            <a:r>
              <a:rPr lang="en-US" sz="2800" b="1" dirty="0"/>
              <a:t>Process 2</a:t>
            </a:r>
            <a:r>
              <a:rPr lang="en-US" sz="2800" dirty="0"/>
              <a:t>: Making a sandwich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CE01B-5EB0-48CF-6DE1-6CDC75E08914}"/>
              </a:ext>
            </a:extLst>
          </p:cNvPr>
          <p:cNvSpPr txBox="1"/>
          <p:nvPr/>
        </p:nvSpPr>
        <p:spPr>
          <a:xfrm>
            <a:off x="5155823" y="3820723"/>
            <a:ext cx="661107" cy="604049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non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90979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878D359D-BFC9-4FB9-8654-A5D0FCAEF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Slide Title">
            <a:extLst>
              <a:ext uri="{FF2B5EF4-FFF2-40B4-BE49-F238E27FC236}">
                <a16:creationId xmlns:a16="http://schemas.microsoft.com/office/drawing/2014/main" id="{0141AF62-65D2-47C8-ACCC-4D20F874D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Process – Execution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7A0D82-0969-6173-A388-322907A28C10}"/>
              </a:ext>
            </a:extLst>
          </p:cNvPr>
          <p:cNvSpPr txBox="1"/>
          <p:nvPr/>
        </p:nvSpPr>
        <p:spPr>
          <a:xfrm>
            <a:off x="190406" y="1226499"/>
            <a:ext cx="10749056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Paste your picture here:</a:t>
            </a:r>
          </a:p>
        </p:txBody>
      </p:sp>
    </p:spTree>
    <p:extLst>
      <p:ext uri="{BB962C8B-B14F-4D97-AF65-F5344CB8AC3E}">
        <p14:creationId xmlns:p14="http://schemas.microsoft.com/office/powerpoint/2010/main" val="416395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D5F93E-0270-58BB-54FC-5A0906439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9D748-AB4C-0479-5159-39F0B6580B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641" y="1127734"/>
            <a:ext cx="11818096" cy="56295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Create Persona via the template using Susan characteristics:</a:t>
            </a:r>
          </a:p>
          <a:p>
            <a:pPr lvl="1" fontAlgn="base">
              <a:buClr>
                <a:schemeClr val="tx1"/>
              </a:buClr>
            </a:pPr>
            <a:r>
              <a:rPr lang="en-US" sz="3000" b="1" i="0" u="none" strike="noStrike" dirty="0">
                <a:solidFill>
                  <a:srgbClr val="FFA000"/>
                </a:solidFill>
                <a:effectLst/>
                <a:latin typeface="Calibri" panose="020F0502020204030204" pitchFamily="34" charset="0"/>
              </a:rPr>
              <a:t>Susan</a:t>
            </a:r>
            <a:r>
              <a:rPr lang="en-US" sz="30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 is a sales manager for a UK-based security firm</a:t>
            </a:r>
            <a:endParaRPr lang="en-US" sz="3000" b="0" i="0" dirty="0">
              <a:solidFill>
                <a:srgbClr val="234465"/>
              </a:solidFill>
              <a:effectLst/>
              <a:latin typeface="Arial" panose="020B0604020202020204" pitchFamily="34" charset="0"/>
            </a:endParaRPr>
          </a:p>
          <a:p>
            <a:pPr lvl="1" fontAlgn="base"/>
            <a:r>
              <a:rPr lang="en-US" sz="30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She is divorced with two grown-up children</a:t>
            </a:r>
            <a:endParaRPr lang="en-US" sz="3000" b="0" i="0" dirty="0">
              <a:solidFill>
                <a:srgbClr val="234465"/>
              </a:solidFill>
              <a:effectLst/>
              <a:latin typeface="Arial" panose="020B0604020202020204" pitchFamily="34" charset="0"/>
            </a:endParaRPr>
          </a:p>
          <a:p>
            <a:pPr lvl="1" fontAlgn="base"/>
            <a:r>
              <a:rPr lang="en-US" sz="30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She is very successful and has a high-earning lifestyle, working long hours, including some weekends, in order to earn as much commission as possible</a:t>
            </a:r>
            <a:endParaRPr lang="en-US" sz="3000" b="0" i="0" dirty="0">
              <a:solidFill>
                <a:srgbClr val="234465"/>
              </a:solidFill>
              <a:effectLst/>
              <a:latin typeface="Arial" panose="020B0604020202020204" pitchFamily="34" charset="0"/>
            </a:endParaRPr>
          </a:p>
          <a:p>
            <a:pPr lvl="1" fontAlgn="base"/>
            <a:r>
              <a:rPr lang="en-US" sz="30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Susan makes extensive use of websites such as Amazon</a:t>
            </a:r>
            <a:endParaRPr lang="en-US" sz="3000" b="0" i="0" dirty="0">
              <a:solidFill>
                <a:srgbClr val="234465"/>
              </a:solidFill>
              <a:effectLst/>
              <a:latin typeface="Arial" panose="020B0604020202020204" pitchFamily="34" charset="0"/>
            </a:endParaRPr>
          </a:p>
          <a:p>
            <a:pPr lvl="1" fontAlgn="base"/>
            <a:r>
              <a:rPr lang="en-US" sz="30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She likes high quality products and dislikes the 'low-value' gifts such as printed mugs and t-shirts</a:t>
            </a:r>
            <a:endParaRPr lang="en-US" sz="3000" b="0" i="0" dirty="0">
              <a:solidFill>
                <a:srgbClr val="234465"/>
              </a:solidFill>
              <a:effectLst/>
              <a:latin typeface="Arial" panose="020B0604020202020204" pitchFamily="34" charset="0"/>
            </a:endParaRPr>
          </a:p>
          <a:p>
            <a:pPr lvl="1" fontAlgn="base"/>
            <a:r>
              <a:rPr lang="en-US" sz="3000" b="0" i="0" u="none" strike="noStrike" dirty="0">
                <a:solidFill>
                  <a:srgbClr val="234465"/>
                </a:solidFill>
                <a:effectLst/>
                <a:latin typeface="Calibri" panose="020F0502020204030204" pitchFamily="34" charset="0"/>
              </a:rPr>
              <a:t>She is keen to source quality items as quickly and easily as possible, and wants quick delivery for last minute purchases</a:t>
            </a:r>
          </a:p>
          <a:p>
            <a:pPr marL="0" indent="0" fontAlgn="base">
              <a:buNone/>
            </a:pPr>
            <a:r>
              <a:rPr lang="en-US" sz="3200" b="1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Write the execution on the next slide!</a:t>
            </a:r>
          </a:p>
          <a:p>
            <a:endParaRPr lang="en-US" sz="34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7B3D24-0393-6019-3A41-A10EBEC8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Persona – Description (25 points)</a:t>
            </a:r>
          </a:p>
        </p:txBody>
      </p:sp>
    </p:spTree>
    <p:extLst>
      <p:ext uri="{BB962C8B-B14F-4D97-AF65-F5344CB8AC3E}">
        <p14:creationId xmlns:p14="http://schemas.microsoft.com/office/powerpoint/2010/main" val="228879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D5F93E-0270-58BB-54FC-5A0906439A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97B3D24-0393-6019-3A41-A10EBEC82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Persona </a:t>
            </a:r>
            <a:r>
              <a:rPr lang="en-US"/>
              <a:t>– Execution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49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7aee57a-33bc-479a-b375-2a9789967078" xsi:nil="true"/>
    <lcf76f155ced4ddcb4097134ff3c332f xmlns="d0d25b69-8e68-4841-9284-bd8f9504d222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E63F92689E2344800622A05AA3C338" ma:contentTypeVersion="17" ma:contentTypeDescription="Create a new document." ma:contentTypeScope="" ma:versionID="4dcab46e3416ed71e81b67106b6eb40a">
  <xsd:schema xmlns:xsd="http://www.w3.org/2001/XMLSchema" xmlns:xs="http://www.w3.org/2001/XMLSchema" xmlns:p="http://schemas.microsoft.com/office/2006/metadata/properties" xmlns:ns2="d0d25b69-8e68-4841-9284-bd8f9504d222" xmlns:ns3="b7aee57a-33bc-479a-b375-2a9789967078" targetNamespace="http://schemas.microsoft.com/office/2006/metadata/properties" ma:root="true" ma:fieldsID="db9412f0d1f7b6842d45ab12c00e65fe" ns2:_="" ns3:_="">
    <xsd:import namespace="d0d25b69-8e68-4841-9284-bd8f9504d222"/>
    <xsd:import namespace="b7aee57a-33bc-479a-b375-2a9789967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25b69-8e68-4841-9284-bd8f9504d2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f6b91ac-d40f-491d-bfb0-a181f55199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aee57a-33bc-479a-b375-2a978996707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0272d0e-81d8-4ac7-9277-f1cd7dac00c5}" ma:internalName="TaxCatchAll" ma:showField="CatchAllData" ma:web="b7aee57a-33bc-479a-b375-2a97899670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8A20BEC-F81B-49CD-951D-E62C4BAE77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E2F4A33-1866-4BB8-8A35-8D6BDFE8D9F5}">
  <ds:schemaRefs>
    <ds:schemaRef ds:uri="http://schemas.microsoft.com/office/2006/metadata/properties"/>
    <ds:schemaRef ds:uri="http://schemas.microsoft.com/office/infopath/2007/PartnerControls"/>
    <ds:schemaRef ds:uri="b7aee57a-33bc-479a-b375-2a9789967078"/>
    <ds:schemaRef ds:uri="d0d25b69-8e68-4841-9284-bd8f9504d222"/>
  </ds:schemaRefs>
</ds:datastoreItem>
</file>

<file path=customXml/itemProps3.xml><?xml version="1.0" encoding="utf-8"?>
<ds:datastoreItem xmlns:ds="http://schemas.openxmlformats.org/officeDocument/2006/customXml" ds:itemID="{FE6B2F01-DEC5-49BF-B01E-A0D917C6D6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d25b69-8e68-4841-9284-bd8f9504d222"/>
    <ds:schemaRef ds:uri="b7aee57a-33bc-479a-b375-2a9789967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14390</TotalTime>
  <Words>517</Words>
  <Application>Microsoft Macintosh PowerPoint</Application>
  <PresentationFormat>Widescreen</PresentationFormat>
  <Paragraphs>71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Consolas</vt:lpstr>
      <vt:lpstr>Segoe UI</vt:lpstr>
      <vt:lpstr>Wingdings</vt:lpstr>
      <vt:lpstr>Wingdings 2</vt:lpstr>
      <vt:lpstr>SoftUni</vt:lpstr>
      <vt:lpstr>IT Business Analysis Fundamentals</vt:lpstr>
      <vt:lpstr>IT Business Analysis</vt:lpstr>
      <vt:lpstr>1. 5 WHYs Root Cause Analysis (25 points)</vt:lpstr>
      <vt:lpstr>2. Categorize the Requirements – Description (25 points)</vt:lpstr>
      <vt:lpstr>2. Categorize the Requirements – Execution</vt:lpstr>
      <vt:lpstr>3. Process – Description (25 points)</vt:lpstr>
      <vt:lpstr>3. Process – Execution</vt:lpstr>
      <vt:lpstr>4. Persona – Description (25 points)</vt:lpstr>
      <vt:lpstr>4. Persona – Execution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SoftUni Presentation</dc:title>
  <dc:subject>Software Development</dc:subject>
  <dc:creator>Software University</dc:creator>
  <cp:keywords>SoftUni; Software University; programming; coding; computer programming; software development; software engineering; software technologies; digital skills; technical skills; training; course</cp:keywords>
  <dc:description>© SoftUni – https://about.softuni.bg/
© Software University – https://softuni.bg
Copyrighted document. Unauthorized copy, reproduction or use is not permitted.</dc:description>
  <cp:lastModifiedBy>Topuzakova, Desislava</cp:lastModifiedBy>
  <cp:revision>40</cp:revision>
  <dcterms:created xsi:type="dcterms:W3CDTF">2018-05-23T13:08:44Z</dcterms:created>
  <dcterms:modified xsi:type="dcterms:W3CDTF">2024-06-12T03:59:10Z</dcterms:modified>
  <cp:category>computer programming;programming;software development;software engineering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0x010100B4E63F92689E2344800622A05AA3C338</vt:lpwstr>
  </property>
  <property fmtid="{D5CDD505-2E9C-101B-9397-08002B2CF9AE}" pid="3" name="MediaServiceImageTags">
    <vt:lpwstr/>
  </property>
</Properties>
</file>